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46120"/>
            <a:ext cx="8686800" cy="91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274320"/>
            <a:ext cx="2011680" cy="640080"/>
          </a:xfrm>
          <a:prstGeom prst="rect">
            <a:avLst/>
          </a:prstGeom>
          <a:solidFill>
            <a:srgbClr val="1A5FA8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292608"/>
            <a:ext cx="197510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A623"/>
                </a:solidFill>
              </a:rPr>
              <a:t>CLAIMS PRO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8046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ClaimsPro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8C8F0"/>
                </a:solidFill>
              </a:rPr>
              <a:t>Insurance Claims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517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0B0D8"/>
                </a:solidFill>
              </a:rPr>
              <a:t>End-to-End Digital Claims Processing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10972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8C8F0"/>
                </a:solidFill>
              </a:rPr>
              <a:t>Presented 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15087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Executive Leadership
&amp; Business Managers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926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8C8F0"/>
                </a:solidFill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32918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May 27,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2636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0B0D8"/>
                </a:solidFill>
              </a:rPr>
              <a:t>Transforming Claims Operations Through Digital Excellence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56539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C8F0"/>
                </a:solidFill>
              </a:rPr>
              <a:t>ClaimsPro  |  Confidential – For Internal Use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56539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8C8F0"/>
                </a:solidFill>
              </a:rP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14984"/>
            <a:ext cx="12188952" cy="58430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C8F0"/>
                </a:solidFill>
              </a:rPr>
              <a:t>ClaimsPro  |  Confidential – For Internal Use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6539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8C8F0"/>
                </a:solidFill>
              </a:rPr>
              <a:t>2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234440"/>
            <a:ext cx="5394960" cy="457200"/>
          </a:xfrm>
          <a:prstGeom prst="rect">
            <a:avLst/>
          </a:prstGeom>
          <a:solidFill>
            <a:srgbClr val="E8F4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234440"/>
            <a:ext cx="438912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1307592"/>
            <a:ext cx="402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A623"/>
                </a:solidFill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27101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Executive Summary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490472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06060"/>
                </a:solidFill>
              </a:rPr>
              <a:t>Business challenge &amp; solution overview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234440"/>
            <a:ext cx="5394960" cy="457200"/>
          </a:xfrm>
          <a:prstGeom prst="rect">
            <a:avLst/>
          </a:prstGeom>
          <a:solidFill>
            <a:srgbClr val="E8F4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234440"/>
            <a:ext cx="438912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1307592"/>
            <a:ext cx="402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A623"/>
                </a:solidFill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127101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What is ClaimsPro?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1490472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06060"/>
                </a:solidFill>
              </a:rPr>
              <a:t>Platform capabilities at a glance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1737360"/>
            <a:ext cx="5394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1737360"/>
            <a:ext cx="438912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" y="1810512"/>
            <a:ext cx="402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A623"/>
                </a:solidFill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177393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Claims Lifecycle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1993392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06060"/>
                </a:solidFill>
              </a:rPr>
              <a:t>End-to-end processing workflow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1737360"/>
            <a:ext cx="5394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1737360"/>
            <a:ext cx="438912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81928" y="1810512"/>
            <a:ext cx="402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A623"/>
                </a:solidFill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177393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User Roles &amp; Responsibilities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1993392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06060"/>
                </a:solidFill>
              </a:rPr>
              <a:t>Role-based access and accountability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2240280"/>
            <a:ext cx="5394960" cy="457200"/>
          </a:xfrm>
          <a:prstGeom prst="rect">
            <a:avLst/>
          </a:prstGeom>
          <a:solidFill>
            <a:srgbClr val="E8F4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1480" y="2240280"/>
            <a:ext cx="438912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8" y="2313432"/>
            <a:ext cx="402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A623"/>
                </a:solidFill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227685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Key Features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2496312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06060"/>
                </a:solidFill>
              </a:rPr>
              <a:t>Functional modules in detail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2240280"/>
            <a:ext cx="5394960" cy="457200"/>
          </a:xfrm>
          <a:prstGeom prst="rect">
            <a:avLst/>
          </a:prstGeom>
          <a:solidFill>
            <a:srgbClr val="E8F4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63640" y="2240280"/>
            <a:ext cx="438912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2313432"/>
            <a:ext cx="402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A623"/>
                </a:solidFill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227685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Data &amp; Analytics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2496312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06060"/>
                </a:solidFill>
              </a:rPr>
              <a:t>Dashboard metrics and reporting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2743200"/>
            <a:ext cx="5394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1480" y="2743200"/>
            <a:ext cx="438912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9768" y="2816352"/>
            <a:ext cx="402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A623"/>
                </a:solidFill>
              </a:rP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277977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Technology &amp; Security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2999232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06060"/>
                </a:solidFill>
              </a:rPr>
              <a:t>Architecture, compliance &amp; data safety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63640" y="2743200"/>
            <a:ext cx="5394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63640" y="2743200"/>
            <a:ext cx="438912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81928" y="2816352"/>
            <a:ext cx="402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A623"/>
                </a:solidFill>
              </a:rPr>
              <a:t>08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6560" y="277977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Business Benefits &amp; ROI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66560" y="2999232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06060"/>
                </a:solidFill>
              </a:rPr>
              <a:t>Value delivered to the organisation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" y="3246120"/>
            <a:ext cx="5394960" cy="457200"/>
          </a:xfrm>
          <a:prstGeom prst="rect">
            <a:avLst/>
          </a:prstGeom>
          <a:solidFill>
            <a:srgbClr val="E8F4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11480" y="3246120"/>
            <a:ext cx="438912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9768" y="3319272"/>
            <a:ext cx="402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A623"/>
                </a:solidFill>
              </a:rPr>
              <a:t>09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" y="328269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Implementation Roadmap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" y="3502152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06060"/>
                </a:solidFill>
              </a:rPr>
              <a:t>Phased go-live plan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63640" y="3246120"/>
            <a:ext cx="5394960" cy="457200"/>
          </a:xfrm>
          <a:prstGeom prst="rect">
            <a:avLst/>
          </a:prstGeom>
          <a:solidFill>
            <a:srgbClr val="E8F4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263640" y="3246120"/>
            <a:ext cx="438912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81928" y="3319272"/>
            <a:ext cx="402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A623"/>
                </a:solidFill>
              </a:rPr>
              <a:t>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66560" y="328269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Next Steps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60" y="3502152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06060"/>
                </a:solidFill>
              </a:rPr>
              <a:t>Recommended actions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14984"/>
            <a:ext cx="12188952" cy="58430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C8F0"/>
                </a:solidFill>
              </a:rPr>
              <a:t>ClaimsPro  |  Confidential – For Internal Use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6539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8C8F0"/>
                </a:solidFill>
              </a:rPr>
              <a:t>3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5394960" cy="1920240"/>
          </a:xfrm>
          <a:prstGeom prst="rect">
            <a:avLst/>
          </a:prstGeom>
          <a:solidFill>
            <a:srgbClr val="FFF0F0"/>
          </a:solidFill>
          <a:ln w="19050">
            <a:solidFill>
              <a:srgbClr val="E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5394960" cy="347472"/>
          </a:xfrm>
          <a:prstGeom prst="rect">
            <a:avLst/>
          </a:prstGeom>
          <a:solidFill>
            <a:srgbClr val="C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18872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⚠  THE 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600200"/>
            <a:ext cx="5166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801010"/>
                </a:solidFill>
              </a:rPr>
              <a:t>✗  Manual, paper-based claim processing causes delays and errors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01010"/>
                </a:solidFill>
              </a:rPr>
              <a:t>✗  No single source of truth – data scattered across departments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01010"/>
                </a:solidFill>
              </a:rPr>
              <a:t>✗  Lack of real-time visibility for managers and executives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01010"/>
                </a:solidFill>
              </a:rPr>
              <a:t>✗  Inconsistent evaluation &amp; approval decisions across teams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188720"/>
            <a:ext cx="5577840" cy="1920240"/>
          </a:xfrm>
          <a:prstGeom prst="rect">
            <a:avLst/>
          </a:prstGeom>
          <a:solidFill>
            <a:srgbClr val="F0FFF4"/>
          </a:solidFill>
          <a:ln w="1905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188720"/>
            <a:ext cx="5577840" cy="347472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1887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✔  THE SOLUTION — ClaimsPro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60020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0A5A2A"/>
                </a:solidFill>
              </a:rPr>
              <a:t>✔  Centralised digital platform for end-to-end claim management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0A5A2A"/>
                </a:solidFill>
              </a:rPr>
              <a:t>✔  Structured 6-stage workflow with full audit trail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0A5A2A"/>
                </a:solidFill>
              </a:rPr>
              <a:t>✔  Role-based access ensuring accountability at every step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0A5A2A"/>
                </a:solidFill>
              </a:rPr>
              <a:t>✔  Real-time dashboard with live statistics and claim tracking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291840"/>
            <a:ext cx="2194560" cy="1234440"/>
          </a:xfrm>
          <a:prstGeom prst="rect">
            <a:avLst/>
          </a:prstGeom>
          <a:solidFill>
            <a:srgbClr val="1A5FA8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42900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977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Processing
Stages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70048" y="3291840"/>
            <a:ext cx="2194560" cy="1234440"/>
          </a:xfrm>
          <a:prstGeom prst="rect">
            <a:avLst/>
          </a:prstGeom>
          <a:solidFill>
            <a:srgbClr val="0D2B55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61488" y="342900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15768" y="3977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User
Roles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74336" y="3291840"/>
            <a:ext cx="2194560" cy="1234440"/>
          </a:xfrm>
          <a:prstGeom prst="rect">
            <a:avLst/>
          </a:prstGeom>
          <a:solidFill>
            <a:srgbClr val="008B8B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65776" y="342900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13+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0056" y="3977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Claim Data
Fields Tracked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78624" y="3291840"/>
            <a:ext cx="2194560" cy="1234440"/>
          </a:xfrm>
          <a:prstGeom prst="rect">
            <a:avLst/>
          </a:prstGeom>
          <a:solidFill>
            <a:srgbClr val="1E8B4C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70064" y="342900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24344" y="3977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Digital
Workflow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82912" y="3291840"/>
            <a:ext cx="2194560" cy="1234440"/>
          </a:xfrm>
          <a:prstGeom prst="rect">
            <a:avLst/>
          </a:prstGeom>
          <a:solidFill>
            <a:srgbClr val="7B2D8B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74352" y="342900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24/7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28632" y="3977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System
Availability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468172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1">
                <a:solidFill>
                  <a:srgbClr val="0D2B55"/>
                </a:solidFill>
              </a:rPr>
              <a:t>ClaimsPro replaces fragmented manual processes with a single, transparent, auditable digital platform.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14984"/>
            <a:ext cx="12188952" cy="58430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What is ClaimsPro?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C8F0"/>
                </a:solidFill>
              </a:rPr>
              <a:t>ClaimsPro  |  Confidential – For Internal Use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6539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8C8F0"/>
                </a:solidFill>
              </a:rPr>
              <a:t>4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0972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C2C2C"/>
                </a:solidFill>
              </a:rPr>
              <a:t>A web-based Insurance Claims Management System that digitises and automates the complete claims lifecycle — from first notification to final payout decision.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828800"/>
            <a:ext cx="3520440" cy="1417320"/>
          </a:xfrm>
          <a:prstGeom prst="rect">
            <a:avLst/>
          </a:prstGeom>
          <a:solidFill>
            <a:srgbClr val="E8F4FF"/>
          </a:solidFill>
          <a:ln w="10160">
            <a:solidFill>
              <a:srgbClr val="1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828800"/>
            <a:ext cx="566928" cy="1417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" y="2194560"/>
            <a:ext cx="4937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C2C2C"/>
                </a:solidFill>
              </a:rPr>
              <a:t>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901952"/>
            <a:ext cx="2788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Claim
Registration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331720"/>
            <a:ext cx="2834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Capture all claimant, policy, and event details in a structured form with built-in validation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05072" y="1828800"/>
            <a:ext cx="3520440" cy="1417320"/>
          </a:xfrm>
          <a:prstGeom prst="rect">
            <a:avLst/>
          </a:prstGeom>
          <a:solidFill>
            <a:srgbClr val="E8F4FF"/>
          </a:solidFill>
          <a:ln w="10160">
            <a:solidFill>
              <a:srgbClr val="1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05072" y="1828800"/>
            <a:ext cx="566928" cy="1417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41648" y="2194560"/>
            <a:ext cx="4937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C2C2C"/>
                </a:solidFill>
              </a:rPr>
              <a:t>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2" y="1901952"/>
            <a:ext cx="2788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Initial
Acceptance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2331720"/>
            <a:ext cx="2834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Claims Officers review submissions and Accept or Reject with documented reasons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90104" y="1828800"/>
            <a:ext cx="3520440" cy="1417320"/>
          </a:xfrm>
          <a:prstGeom prst="rect">
            <a:avLst/>
          </a:prstGeom>
          <a:solidFill>
            <a:srgbClr val="E8F4FF"/>
          </a:solidFill>
          <a:ln w="10160">
            <a:solidFill>
              <a:srgbClr val="1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90104" y="1828800"/>
            <a:ext cx="566928" cy="1417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26680" y="2194560"/>
            <a:ext cx="4937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C2C2C"/>
                </a:solidFill>
              </a:rPr>
              <a:t>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0184" y="1901952"/>
            <a:ext cx="2788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Claim
Evaluation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0184" y="2331720"/>
            <a:ext cx="2834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Case Managers assess claim validity, determine payout amount, and assign risk level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383280"/>
            <a:ext cx="3520440" cy="1417320"/>
          </a:xfrm>
          <a:prstGeom prst="rect">
            <a:avLst/>
          </a:prstGeom>
          <a:solidFill>
            <a:srgbClr val="E8F4FF"/>
          </a:solidFill>
          <a:ln w="10160">
            <a:solidFill>
              <a:srgbClr val="1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383280"/>
            <a:ext cx="566928" cy="1417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6" y="3749040"/>
            <a:ext cx="4937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C2C2C"/>
                </a:solidFill>
              </a:rPr>
              <a:t>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456432"/>
            <a:ext cx="2788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Approval &amp;
Decision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3886200"/>
            <a:ext cx="2834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Senior approval step with enforced amount caps and mandatory audit notes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05072" y="3383280"/>
            <a:ext cx="3520440" cy="1417320"/>
          </a:xfrm>
          <a:prstGeom prst="rect">
            <a:avLst/>
          </a:prstGeom>
          <a:solidFill>
            <a:srgbClr val="E8F4FF"/>
          </a:solidFill>
          <a:ln w="10160">
            <a:solidFill>
              <a:srgbClr val="1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05072" y="3383280"/>
            <a:ext cx="566928" cy="1417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41648" y="3749040"/>
            <a:ext cx="4937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C2C2C"/>
                </a:solidFill>
              </a:rPr>
              <a:t>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45152" y="3456432"/>
            <a:ext cx="2788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Dashboard &amp;
Reports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5152" y="3886200"/>
            <a:ext cx="2834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Live statistics across all claim stages with search and filter capabilities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90104" y="3383280"/>
            <a:ext cx="3520440" cy="1417320"/>
          </a:xfrm>
          <a:prstGeom prst="rect">
            <a:avLst/>
          </a:prstGeom>
          <a:solidFill>
            <a:srgbClr val="E8F4FF"/>
          </a:solidFill>
          <a:ln w="10160">
            <a:solidFill>
              <a:srgbClr val="1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690104" y="3383280"/>
            <a:ext cx="566928" cy="1417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26680" y="3749040"/>
            <a:ext cx="4937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C2C2C"/>
                </a:solidFill>
              </a:rPr>
              <a:t>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30184" y="3456432"/>
            <a:ext cx="2788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Security &amp;
Audit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0184" y="3886200"/>
            <a:ext cx="2834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Role-based access, session management, and full timestamp audit trail on every action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49834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06060"/>
                </a:solidFill>
              </a:rPr>
              <a:t>Built on Spring Boot 2.7  •  Java 17  •  Apache Tomcat  •  REST APIs  •  Responsive Web 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14984"/>
            <a:ext cx="12188952" cy="58430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Claims Lifecycle — End-to-End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C8F0"/>
                </a:solidFill>
              </a:rPr>
              <a:t>ClaimsPro  |  Confidential – For Internal Use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6539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8C8F0"/>
                </a:solidFill>
              </a:rPr>
              <a:t>5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1920240" cy="2011680"/>
          </a:xfrm>
          <a:prstGeom prst="rect">
            <a:avLst/>
          </a:prstGeom>
          <a:solidFill>
            <a:srgbClr val="1A5FA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417320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8745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SUBMITTED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6974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D0E8FF"/>
                </a:solidFill>
              </a:rPr>
              <a:t>Claim registered
by Officer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04288" y="205740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2B55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0" y="1371600"/>
            <a:ext cx="1920240" cy="2011680"/>
          </a:xfrm>
          <a:prstGeom prst="rect">
            <a:avLst/>
          </a:prstGeom>
          <a:solidFill>
            <a:srgbClr val="008B8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06040" y="1417320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18745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ACCEPTED /
REJECTED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26974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D0E8FF"/>
                </a:solidFill>
              </a:rPr>
              <a:t>Initial review
complete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205740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2B55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1371600"/>
            <a:ext cx="1920240" cy="2011680"/>
          </a:xfrm>
          <a:prstGeom prst="rect">
            <a:avLst/>
          </a:prstGeom>
          <a:solidFill>
            <a:srgbClr val="7B2D8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600" y="1417320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18745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UNDER
EVALUATION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26974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D0E8FF"/>
                </a:solidFill>
              </a:rPr>
              <a:t>Evaluator
assigned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93408" y="205740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2B55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49440" y="1371600"/>
            <a:ext cx="1920240" cy="2011680"/>
          </a:xfrm>
          <a:prstGeom prst="rect">
            <a:avLst/>
          </a:prstGeom>
          <a:solidFill>
            <a:srgbClr val="E67E2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95160" y="1417320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18745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EVALUATED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26974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D0E8FF"/>
                </a:solidFill>
              </a:rPr>
              <a:t>Amount &amp;
risk set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87968" y="205740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2B55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0" y="1371600"/>
            <a:ext cx="1920240" cy="2011680"/>
          </a:xfrm>
          <a:prstGeom prst="rect">
            <a:avLst/>
          </a:prstGeom>
          <a:solidFill>
            <a:srgbClr val="1E8B4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89720" y="1417320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18745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APPROVED /
DENIED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26974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D0E8FF"/>
                </a:solidFill>
              </a:rPr>
              <a:t>Final payout
decision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566160"/>
            <a:ext cx="11430000" cy="1691640"/>
          </a:xfrm>
          <a:prstGeom prst="rect">
            <a:avLst/>
          </a:prstGeom>
          <a:solidFill>
            <a:srgbClr val="E8F4FF"/>
          </a:solidFill>
          <a:ln w="1016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363931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Business Rules Enforced at Every Stage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069080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2C2C"/>
                </a:solidFill>
              </a:rPr>
              <a:t>●  Rejection requires a mandatory written reason — no silent rejections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4069080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2C2C"/>
                </a:solidFill>
              </a:rPr>
              <a:t>●  Approved payout amount cannot exceed the Evaluator's assessed amount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4069080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2C2C"/>
                </a:solidFill>
              </a:rPr>
              <a:t>●  Evaluation notes minimum 20 characters — ensures documented decisions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453128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2C2C"/>
                </a:solidFill>
              </a:rPr>
              <a:t>●  Risk classification mandatory (Low / Medium / High) at evaluation stage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4453128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2C2C"/>
                </a:solidFill>
              </a:rPr>
              <a:t>●  Complete timestamp + user audit trail captured at every state transition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4453128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2C2C"/>
                </a:solidFill>
              </a:rPr>
              <a:t>●  Dates cannot be set in the future — prevents backdating of claims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14984"/>
            <a:ext cx="12188952" cy="58430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User Roles &amp; Responsibilities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C8F0"/>
                </a:solidFill>
              </a:rPr>
              <a:t>ClaimsPro  |  Confidential – For Internal Use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6539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8C8F0"/>
                </a:solidFill>
              </a:rPr>
              <a:t>6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0972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C2C2C"/>
                </a:solidFill>
              </a:rPr>
              <a:t>ClaimsPro implements a three-tier role hierarchy ensuring clear accountability and separation of duties across the claims process.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91640"/>
            <a:ext cx="3611880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691640"/>
            <a:ext cx="3611880" cy="65836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746504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ADMINISTRATOR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093976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D0E8FF"/>
                </a:solidFill>
              </a:rPr>
              <a:t>System Owner / IT Admin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46888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2B55"/>
                </a:solidFill>
              </a:rPr>
              <a:t>Key Responsibilities: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78892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</a:rPr>
              <a:t>▸  Full system access and oversight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29184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</a:rPr>
              <a:t>▸  User and access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79476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</a:rPr>
              <a:t>▸  System configuration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29768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</a:rPr>
              <a:t>▸  All report and dashboard access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80060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</a:rPr>
              <a:t>▸  Audit log review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33672" y="1691640"/>
            <a:ext cx="3611880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33672" y="1691640"/>
            <a:ext cx="3611880" cy="658368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25112" y="1746504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CLAIMS OFFICER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5112" y="2093976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D0E8FF"/>
                </a:solidFill>
              </a:rPr>
              <a:t>Front-line Claims Handler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0832" y="246888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5FA8"/>
                </a:solidFill>
              </a:rPr>
              <a:t>Key Responsibilities: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70832" y="278892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</a:rPr>
              <a:t>▸  Register new claims (FNOL)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70832" y="329184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</a:rPr>
              <a:t>▸  Review and Accept / Reject submissions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70832" y="379476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</a:rPr>
              <a:t>▸  Initiate evaluation process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0832" y="429768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</a:rPr>
              <a:t>▸  Manage claim documentation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70832" y="480060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</a:rPr>
              <a:t>▸  Update claim officer notes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01584" y="1691640"/>
            <a:ext cx="3611880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01584" y="1691640"/>
            <a:ext cx="3611880" cy="65836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93024" y="1746504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CASE MANAGER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3024" y="2093976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D0E8FF"/>
                </a:solidFill>
              </a:rPr>
              <a:t>Senior Claims Decision Maker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38744" y="246888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8B8B"/>
                </a:solidFill>
              </a:rPr>
              <a:t>Key Responsibilities: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38744" y="278892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</a:rPr>
              <a:t>▸  Conduct detailed claim evaluation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38744" y="329184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</a:rPr>
              <a:t>▸  Determine assessed payout amount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38744" y="379476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</a:rPr>
              <a:t>▸  Assign risk level (Low / Medium / High)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38744" y="429768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</a:rPr>
              <a:t>▸  Document recommendation and findings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38744" y="480060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</a:rPr>
              <a:t>▸  Approve or Deny evaluated claims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760720"/>
            <a:ext cx="11430000" cy="457200"/>
          </a:xfrm>
          <a:prstGeom prst="rect">
            <a:avLst/>
          </a:prstGeom>
          <a:solidFill>
            <a:srgbClr val="FFF8E0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577900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805000"/>
                </a:solidFill>
              </a:rPr>
              <a:t>⚖  Segregation of Duties:  Registration → Acceptance (Officer)  |  Evaluation → Approval (Manager)  — prevents single-person fraud risk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14984"/>
            <a:ext cx="12188952" cy="58430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C8F0"/>
                </a:solidFill>
              </a:rPr>
              <a:t>ClaimsPro  |  Confidential – For Internal Use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6539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8C8F0"/>
                </a:solidFill>
              </a:rPr>
              <a:t>7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188720"/>
            <a:ext cx="5577840" cy="4480560"/>
          </a:xfrm>
          <a:prstGeom prst="rect">
            <a:avLst/>
          </a:prstGeom>
          <a:solidFill>
            <a:srgbClr val="E8F4FF"/>
          </a:solidFill>
          <a:ln w="1016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188720"/>
            <a:ext cx="5577840" cy="4114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20700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Operational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55"/>
                </a:solidFill>
              </a:rPr>
              <a:t>◆  Comprehensive Claim Registration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9659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606060"/>
                </a:solidFill>
              </a:rPr>
              <a:t>    Captures 30+ data points: insured details, event info, reporter data, agent codes, policy types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49631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55"/>
                </a:solidFill>
              </a:rPr>
              <a:t>◆  Multi-Stage Workflow Automation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77063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606060"/>
                </a:solidFill>
              </a:rPr>
              <a:t>    Guided 6-step process eliminates skipped stages; system enforces correct sequence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30098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55"/>
                </a:solidFill>
              </a:rPr>
              <a:t>◆  Advanced Search &amp; Filtering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575304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606060"/>
                </a:solidFill>
              </a:rPr>
              <a:t>    Filter claims by status, claim type, or free-text search across claimant names and IDs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10565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55"/>
                </a:solidFill>
              </a:rPr>
              <a:t>◆  Real-Time Statistics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379976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606060"/>
                </a:solidFill>
              </a:rPr>
              <a:t>    Live counts per stage + total approved payout amounts visible to all authorised users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9103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55"/>
                </a:solidFill>
              </a:rPr>
              <a:t>◆  Complete Audit Trail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18464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606060"/>
                </a:solidFill>
              </a:rPr>
              <a:t>    Every action captures user, timestamp, and reason — meets regulatory documentation requirements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1188720"/>
            <a:ext cx="5577840" cy="4480560"/>
          </a:xfrm>
          <a:prstGeom prst="rect">
            <a:avLst/>
          </a:prstGeom>
          <a:solidFill>
            <a:srgbClr val="F0FFF4"/>
          </a:solidFill>
          <a:ln w="1016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1188720"/>
            <a:ext cx="5577840" cy="41148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120700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Management &amp; Control 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16916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8B4C"/>
                </a:solidFill>
              </a:rPr>
              <a:t>◆  Role-Based Access 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19659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606060"/>
                </a:solidFill>
              </a:rPr>
              <a:t>    Each user sees only what their role permits — Officers cannot approve, Managers cannot register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249631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8B4C"/>
                </a:solidFill>
              </a:rPr>
              <a:t>◆  Business Rule Enforcement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277063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606060"/>
                </a:solidFill>
              </a:rPr>
              <a:t>    Approved amount cap, mandatory rejection reasons, evaluation note minimums — hardcoded guardrails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30098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8B4C"/>
                </a:solidFill>
              </a:rPr>
              <a:t>◆  Session-Based Security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3575304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606060"/>
                </a:solidFill>
              </a:rPr>
              <a:t>    30-minute session timeout, authenticated pages, secure login/logout — prevents unauthorised access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10565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8B4C"/>
                </a:solidFill>
              </a:rPr>
              <a:t>◆  Data Validation &amp; Quality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379976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606060"/>
                </a:solidFill>
              </a:rPr>
              <a:t>    Email format checks, future-date prevention, required field validation at data entry point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9103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8B4C"/>
                </a:solidFill>
              </a:rPr>
              <a:t>◆  Scalable REST API Architecture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518464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606060"/>
                </a:solidFill>
              </a:rPr>
              <a:t>    13 RESTful endpoints — ready for integration with core insurance systems, portals, or mobile apps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14984"/>
            <a:ext cx="12188952" cy="58430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Data &amp; Analytics — Live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C8F0"/>
                </a:solidFill>
              </a:rPr>
              <a:t>ClaimsPro  |  Confidential – For Internal Use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6539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8C8F0"/>
                </a:solidFill>
              </a:rPr>
              <a:t>8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09728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C2C2C"/>
                </a:solidFill>
              </a:rPr>
              <a:t>The ClaimsPro dashboard delivers real-time operational intelligence to Officers, Managers and Executives.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00200"/>
            <a:ext cx="2651760" cy="1143000"/>
          </a:xfrm>
          <a:prstGeom prst="rect">
            <a:avLst/>
          </a:prstGeom>
          <a:solidFill>
            <a:srgbClr val="0D2B5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64208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13055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Total Claims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37744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D0E8FF"/>
                </a:solidFill>
              </a:rPr>
              <a:t>All claims in system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45536" y="1600200"/>
            <a:ext cx="2651760" cy="1143000"/>
          </a:xfrm>
          <a:prstGeom prst="rect">
            <a:avLst/>
          </a:prstGeom>
          <a:solidFill>
            <a:srgbClr val="1A5FA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1664208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91256" y="213055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Submitted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91256" y="237744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D0E8FF"/>
                </a:solidFill>
              </a:rPr>
              <a:t>Awaiting initial review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25312" y="1600200"/>
            <a:ext cx="2651760" cy="1143000"/>
          </a:xfrm>
          <a:prstGeom prst="rect">
            <a:avLst/>
          </a:prstGeom>
          <a:solidFill>
            <a:srgbClr val="008B8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16752" y="1664208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71032" y="213055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Accepted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71032" y="237744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D0E8FF"/>
                </a:solidFill>
              </a:rPr>
              <a:t>Passed initial check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05088" y="1600200"/>
            <a:ext cx="2651760" cy="1143000"/>
          </a:xfrm>
          <a:prstGeom prst="rect">
            <a:avLst/>
          </a:prstGeom>
          <a:solidFill>
            <a:srgbClr val="7B2D8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96528" y="1664208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50808" y="213055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Under Evaluation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50808" y="237744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D0E8FF"/>
                </a:solidFill>
              </a:rPr>
              <a:t>Being assessed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834640"/>
            <a:ext cx="2651760" cy="1143000"/>
          </a:xfrm>
          <a:prstGeom prst="rect">
            <a:avLst/>
          </a:prstGeom>
          <a:solidFill>
            <a:srgbClr val="E67E2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2898648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336499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Evaluated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361188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D0E8FF"/>
                </a:solidFill>
              </a:rPr>
              <a:t>Assessment complete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45536" y="2834640"/>
            <a:ext cx="2651760" cy="1143000"/>
          </a:xfrm>
          <a:prstGeom prst="rect">
            <a:avLst/>
          </a:prstGeom>
          <a:solidFill>
            <a:srgbClr val="1E8B4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36976" y="2898648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91256" y="336499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Approved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91256" y="361188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D0E8FF"/>
                </a:solidFill>
              </a:rPr>
              <a:t>Payout authorised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25312" y="2834640"/>
            <a:ext cx="2651760" cy="1143000"/>
          </a:xfrm>
          <a:prstGeom prst="rect">
            <a:avLst/>
          </a:prstGeom>
          <a:solidFill>
            <a:srgbClr val="C0303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16752" y="2898648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71032" y="336499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Rejected / Denied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71032" y="361188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D0E8FF"/>
                </a:solidFill>
              </a:rPr>
              <a:t>Declined claims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05088" y="2834640"/>
            <a:ext cx="2651760" cy="1143000"/>
          </a:xfrm>
          <a:prstGeom prst="rect">
            <a:avLst/>
          </a:prstGeom>
          <a:solidFill>
            <a:srgbClr val="1A704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96528" y="2898648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50808" y="336499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Total Approved $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50808" y="361188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D0E8FF"/>
                </a:solidFill>
              </a:rPr>
              <a:t>Sum of payouts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114800"/>
            <a:ext cx="11430000" cy="1508760"/>
          </a:xfrm>
          <a:prstGeom prst="rect">
            <a:avLst/>
          </a:prstGeom>
          <a:solidFill>
            <a:srgbClr val="E8F4FF"/>
          </a:solidFill>
          <a:ln w="1016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418795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Dashboard Capabilities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46177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✔  Filter claims by Status, Type, or free-text search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120" y="46177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✔  View complete claim history with full audit trail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46177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✔  Track payout exposure across all approved claims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500176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✔  Monitor claims officer and manager workload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89120" y="500176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✔  Identify bottlenecks in the evaluation pipeline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500176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✔  Export-ready data structure for BI integration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14984"/>
            <a:ext cx="12188952" cy="58430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Technology &amp;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C8F0"/>
                </a:solidFill>
              </a:rPr>
              <a:t>ClaimsPro  |  Confidential – For Internal Use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6539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8C8F0"/>
                </a:solidFill>
              </a:rPr>
              <a:t>9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188720"/>
            <a:ext cx="5394960" cy="4434840"/>
          </a:xfrm>
          <a:prstGeom prst="rect">
            <a:avLst/>
          </a:prstGeom>
          <a:solidFill>
            <a:srgbClr val="E8F4FF"/>
          </a:solidFill>
          <a:ln w="1016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188720"/>
            <a:ext cx="5394960" cy="4114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20700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Technology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7373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B55"/>
                </a:solidFill>
              </a:rPr>
              <a:t>Backend Framework: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76272" y="1737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Spring Boot 2.7.18 (Spring MVC 5.3)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167128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B55"/>
                </a:solidFill>
              </a:rPr>
              <a:t>Runtime: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76272" y="216712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Java 17 (LTS) — enterprise grade &amp; secure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596896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B55"/>
                </a:solidFill>
              </a:rPr>
              <a:t>Web Server: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76272" y="259689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Apache Tomcat 9.0 (embedded)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026664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B55"/>
                </a:solidFill>
              </a:rPr>
              <a:t>View Layer: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76272" y="302666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JSP with JSTL — server-side rendering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456432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B55"/>
                </a:solidFill>
              </a:rPr>
              <a:t>Data Validation: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76272" y="34564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Hibernate Validator / Bean Validation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88620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B55"/>
                </a:solidFill>
              </a:rPr>
              <a:t>Serialisation: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76272" y="3886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Jackson 2.13 (JSON REST API)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315968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B55"/>
                </a:solidFill>
              </a:rPr>
              <a:t>Build Tool: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76272" y="431596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Apache Maven 3.8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745736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B55"/>
                </a:solidFill>
              </a:rPr>
              <a:t>Deployment: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76272" y="474573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Self-contained WAR — deploy anywhere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175504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B55"/>
                </a:solidFill>
              </a:rPr>
              <a:t>Frontend: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76272" y="517550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Vanilla JS + Custom CSS — no heavy frameworks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1188720"/>
            <a:ext cx="5577840" cy="4434840"/>
          </a:xfrm>
          <a:prstGeom prst="rect">
            <a:avLst/>
          </a:prstGeom>
          <a:solidFill>
            <a:srgbClr val="F0FFF4"/>
          </a:solidFill>
          <a:ln w="1016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1188720"/>
            <a:ext cx="5577840" cy="41148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120700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Security &amp; Compliance Controls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17373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8B4C"/>
                </a:solidFill>
              </a:rPr>
              <a:t>Authentication: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79" y="17373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Email + Password with server-side validation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2167128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8B4C"/>
                </a:solidFill>
              </a:rPr>
              <a:t>Session Management: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79" y="216712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HTTP Session with 30-minute auto-timeout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2596896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8B4C"/>
                </a:solidFill>
              </a:rPr>
              <a:t>Authorisation: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83879" y="2596896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Role checks on every protected API endpoint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3026664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8B4C"/>
                </a:solidFill>
              </a:rPr>
              <a:t>Page Security: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83879" y="3026664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Server-side auth guards on all JSP views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3456432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8B4C"/>
                </a:solidFill>
              </a:rPr>
              <a:t>Input Validation: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83879" y="345643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Bean Validation + custom business rules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388620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8B4C"/>
                </a:solidFill>
              </a:rPr>
              <a:t>SQL Injection: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83879" y="38862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No raw SQL — in-memory store, no injection surface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4315968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8B4C"/>
                </a:solidFill>
              </a:rPr>
              <a:t>Audit Logging: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83879" y="431596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Full user + timestamp trail on all state changes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4745736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8B4C"/>
                </a:solidFill>
              </a:rPr>
              <a:t>Data Integrity: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83879" y="4745736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Immutable DTOs — requests never mutate entity directly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5175504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8B4C"/>
                </a:solidFill>
              </a:rPr>
              <a:t>Future Roadmap: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83879" y="5175504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Database persistence, HTTPS, SSO / Active Directory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14984"/>
            <a:ext cx="12188952" cy="58430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Business Benefits &amp; Return on Investment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C8F0"/>
                </a:solidFill>
              </a:rPr>
              <a:t>ClaimsPro  |  Confidential – For Internal Use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6539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8C8F0"/>
                </a:solidFill>
              </a:rPr>
              <a:t>10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0972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2C2C2C"/>
                </a:solidFill>
              </a:rPr>
              <a:t>ClaimsPro delivers measurable value across operational efficiency, risk management, customer experience and regulatory compliance.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627632"/>
            <a:ext cx="2176272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D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627632"/>
            <a:ext cx="2176272" cy="62179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" y="1664208"/>
            <a:ext cx="20299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Operational
Efficiency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359152"/>
            <a:ext cx="2011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2C2C2C"/>
                </a:solidFill>
              </a:rPr>
              <a:t>▸  Eliminates paper-based manual 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017520"/>
            <a:ext cx="2011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2C2C2C"/>
                </a:solidFill>
              </a:rPr>
              <a:t>▸  Structured workflow reduces handling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675888"/>
            <a:ext cx="2011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2C2C2C"/>
                </a:solidFill>
              </a:rPr>
              <a:t>▸  No lost or misfiled claims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334256"/>
            <a:ext cx="2011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2C2C2C"/>
                </a:solidFill>
              </a:rPr>
              <a:t>▸  Officers focused on decisions, not admin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87752" y="1627632"/>
            <a:ext cx="2176272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87752" y="1627632"/>
            <a:ext cx="2176272" cy="62179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60904" y="1664208"/>
            <a:ext cx="20299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Risk &amp;
Fraud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79192" y="2359152"/>
            <a:ext cx="2011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2C2C2C"/>
                </a:solidFill>
              </a:rPr>
              <a:t>▸  Segregation of duties prevents single-person fraud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79192" y="3017520"/>
            <a:ext cx="2011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2C2C2C"/>
                </a:solidFill>
              </a:rPr>
              <a:t>▸  Mandatory documented justifications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79192" y="3675888"/>
            <a:ext cx="2011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2C2C2C"/>
                </a:solidFill>
              </a:rPr>
              <a:t>▸  Enforced payout caps at approval stage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79192" y="4334256"/>
            <a:ext cx="2011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2C2C2C"/>
                </a:solidFill>
              </a:rPr>
              <a:t>▸  Complete audit trail for investigations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55464" y="1627632"/>
            <a:ext cx="2176272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55464" y="1627632"/>
            <a:ext cx="2176272" cy="621792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28616" y="1664208"/>
            <a:ext cx="20299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Customer
Experience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46904" y="2359152"/>
            <a:ext cx="2011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2C2C2C"/>
                </a:solidFill>
              </a:rPr>
              <a:t>▸  Faster claim decisions through digital 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46904" y="3017520"/>
            <a:ext cx="2011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2C2C2C"/>
                </a:solidFill>
              </a:rPr>
              <a:t>▸  Consistent, fair evaluation process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46904" y="3675888"/>
            <a:ext cx="2011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2C2C2C"/>
                </a:solidFill>
              </a:rPr>
              <a:t>▸  Transparent status tracking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46904" y="4334256"/>
            <a:ext cx="2011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2C2C2C"/>
                </a:solidFill>
              </a:rPr>
              <a:t>▸  Fewer errors = fewer claimant disputes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23176" y="1627632"/>
            <a:ext cx="2176272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23176" y="1627632"/>
            <a:ext cx="2176272" cy="62179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96328" y="1664208"/>
            <a:ext cx="20299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Regulatory &amp;
Compliance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14616" y="2359152"/>
            <a:ext cx="2011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2C2C2C"/>
                </a:solidFill>
              </a:rPr>
              <a:t>▸  Full audit log meets documentation requirements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14616" y="3017520"/>
            <a:ext cx="2011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2C2C2C"/>
                </a:solidFill>
              </a:rPr>
              <a:t>▸  Enforced workflow prevents process bypassing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4616" y="3675888"/>
            <a:ext cx="2011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2C2C2C"/>
                </a:solidFill>
              </a:rPr>
              <a:t>▸  Timestamped decisions for dispute resolution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14616" y="4334256"/>
            <a:ext cx="2011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2C2C2C"/>
                </a:solidFill>
              </a:rPr>
              <a:t>▸  Data validation ensures record integrity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90888" y="1627632"/>
            <a:ext cx="2176272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7B2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390888" y="1627632"/>
            <a:ext cx="2176272" cy="621792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64040" y="1664208"/>
            <a:ext cx="20299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Executive
Visibility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82328" y="2359152"/>
            <a:ext cx="2011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2C2C2C"/>
                </a:solidFill>
              </a:rPr>
              <a:t>▸  Real-time claim counts by stage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82328" y="3017520"/>
            <a:ext cx="2011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2C2C2C"/>
                </a:solidFill>
              </a:rPr>
              <a:t>▸  Total approved payout exposure at a glance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82328" y="3675888"/>
            <a:ext cx="2011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2C2C2C"/>
                </a:solidFill>
              </a:rPr>
              <a:t>▸  Bottleneck identification in pipeline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82328" y="4334256"/>
            <a:ext cx="2011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2C2C2C"/>
                </a:solidFill>
              </a:rPr>
              <a:t>▸  Foundation for BI and predictive analytics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5440680"/>
            <a:ext cx="11430000" cy="457200"/>
          </a:xfrm>
          <a:prstGeom prst="rect">
            <a:avLst/>
          </a:prstGeom>
          <a:solidFill>
            <a:srgbClr val="FFF8E0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546811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05000"/>
                </a:solidFill>
              </a:rPr>
              <a:t>💡  ClaimsPro is the operational backbone that turns claims processing from a cost centre into a competitive advantage.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14984"/>
            <a:ext cx="12188952" cy="58430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Application Screen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C8F0"/>
                </a:solidFill>
              </a:rPr>
              <a:t>ClaimsPro  |  Confidential – For Internal Use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6539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8C8F0"/>
                </a:solidFill>
              </a:rPr>
              <a:t>11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34440"/>
            <a:ext cx="352044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D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234440"/>
            <a:ext cx="352044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28016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Login Portal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12801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0E8FF"/>
                </a:solidFill>
              </a:rPr>
              <a:t>/login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691640"/>
            <a:ext cx="3337560" cy="274320"/>
          </a:xfrm>
          <a:prstGeom prst="rect">
            <a:avLst/>
          </a:prstGeom>
          <a:solidFill>
            <a:srgbClr val="F5F5F5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70992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060"/>
                </a:solidFill>
              </a:rPr>
              <a:t>localhost:9090/login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057400"/>
            <a:ext cx="3337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Secure email + password authentication with session management and automatic redirect to dashboard.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77639" y="1234440"/>
            <a:ext cx="352044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77639" y="1234440"/>
            <a:ext cx="3520440" cy="384048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69079" y="128016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Operations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79" y="12801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0E8FF"/>
                </a:solidFill>
              </a:rPr>
              <a:t>/dashboard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69079" y="1691640"/>
            <a:ext cx="3337560" cy="274320"/>
          </a:xfrm>
          <a:prstGeom prst="rect">
            <a:avLst/>
          </a:prstGeom>
          <a:solidFill>
            <a:srgbClr val="F5F5F5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9" y="170992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060"/>
                </a:solidFill>
              </a:rPr>
              <a:t>localhost:9090/dashboard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79" y="2057400"/>
            <a:ext cx="3337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Real-time KPI cards showing claims at every stage plus total approved payout value with search &amp; filter.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35240" y="1234440"/>
            <a:ext cx="352044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35240" y="1234440"/>
            <a:ext cx="3520440" cy="38404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26680" y="128016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Claim Registration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12801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0E8FF"/>
                </a:solidFill>
              </a:rPr>
              <a:t>/case-registration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26680" y="1691640"/>
            <a:ext cx="3337560" cy="274320"/>
          </a:xfrm>
          <a:prstGeom prst="rect">
            <a:avLst/>
          </a:prstGeom>
          <a:solidFill>
            <a:srgbClr val="F5F5F5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0" y="170992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060"/>
                </a:solidFill>
              </a:rPr>
              <a:t>localhost:9090/case-registration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80" y="2057400"/>
            <a:ext cx="3337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30+ field intake form capturing insured, claimant, reporter, agent and policy data with validation.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383280"/>
            <a:ext cx="352044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7B2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3383280"/>
            <a:ext cx="3520440" cy="384048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342900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Acceptance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68880" y="34290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0E8FF"/>
                </a:solidFill>
              </a:rPr>
              <a:t>/case-acceptance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3840480"/>
            <a:ext cx="3337560" cy="274320"/>
          </a:xfrm>
          <a:prstGeom prst="rect">
            <a:avLst/>
          </a:prstGeom>
          <a:solidFill>
            <a:srgbClr val="F5F5F5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385876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060"/>
                </a:solidFill>
              </a:rPr>
              <a:t>localhost:9090/case-acceptance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4206240"/>
            <a:ext cx="3337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Tabular view of SUBMITTED claims with one-click Accept or Reject with mandatory notes capture.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77639" y="3383280"/>
            <a:ext cx="352044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977639" y="3383280"/>
            <a:ext cx="3520440" cy="38404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69079" y="342900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Claim Evaluation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79" y="34290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0E8FF"/>
                </a:solidFill>
              </a:rPr>
              <a:t>/case-evaluation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069079" y="3840480"/>
            <a:ext cx="3337560" cy="274320"/>
          </a:xfrm>
          <a:prstGeom prst="rect">
            <a:avLst/>
          </a:prstGeom>
          <a:solidFill>
            <a:srgbClr val="F5F5F5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799" y="385876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060"/>
                </a:solidFill>
              </a:rPr>
              <a:t>localhost:9090/case-evaluation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69079" y="4206240"/>
            <a:ext cx="3337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Evaluation workspace showing claim details; Evaluator sets amount, risk level and recommendation.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635240" y="3383280"/>
            <a:ext cx="352044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635240" y="3383280"/>
            <a:ext cx="3520440" cy="384048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26680" y="342900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Approval / Decision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84080" y="34290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0E8FF"/>
                </a:solidFill>
              </a:rPr>
              <a:t>/case-approval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26680" y="3840480"/>
            <a:ext cx="3337560" cy="274320"/>
          </a:xfrm>
          <a:prstGeom prst="rect">
            <a:avLst/>
          </a:prstGeom>
          <a:solidFill>
            <a:srgbClr val="F5F5F5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0" y="385876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060"/>
                </a:solidFill>
              </a:rPr>
              <a:t>localhost:9090/case-approval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26680" y="4206240"/>
            <a:ext cx="3337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Final decision screen with enforced amount cap; Manager enters approval amount and authorisation notes.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14984"/>
            <a:ext cx="12188952" cy="58430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Implementation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C8F0"/>
                </a:solidFill>
              </a:rPr>
              <a:t>ClaimsPro  |  Confidential – For Internal Use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6539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8C8F0"/>
                </a:solidFill>
              </a:rPr>
              <a:t>12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09728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C2C2C"/>
                </a:solidFill>
              </a:rPr>
              <a:t>A phased approach ensures stable delivery with minimal business disruption.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600200"/>
            <a:ext cx="265176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600200"/>
            <a:ext cx="2651760" cy="71323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62763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Phase 1
Foundation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304288"/>
            <a:ext cx="2468880" cy="256032"/>
          </a:xfrm>
          <a:prstGeom prst="rect">
            <a:avLst/>
          </a:prstGeom>
          <a:solidFill>
            <a:srgbClr val="E8F4FF"/>
          </a:solidFill>
          <a:ln w="10160">
            <a:solidFill>
              <a:srgbClr val="1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" y="2304288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5FA8"/>
                </a:solidFill>
              </a:rPr>
              <a:t>⏱  Weeks 1–2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6517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2C2C"/>
                </a:solidFill>
              </a:rPr>
              <a:t>▸  Deploy ClaimsPro to production 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18211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2C2C"/>
                </a:solidFill>
              </a:rPr>
              <a:t>▸  Configure HTTPS / SSL certificate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712464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2C2C"/>
                </a:solidFill>
              </a:rPr>
              <a:t>▸  Migrate existing claim register to digital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242816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2C2C"/>
                </a:solidFill>
              </a:rPr>
              <a:t>▸  User accounts creation and role assignment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77316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2C2C"/>
                </a:solidFill>
              </a:rPr>
              <a:t>▸  Staff training (Officers &amp; Managers)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36392" y="1600200"/>
            <a:ext cx="265176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136392" y="1600200"/>
            <a:ext cx="2651760" cy="71323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27832" y="162763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Phase 2
Enhancement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27832" y="2304288"/>
            <a:ext cx="2468880" cy="256032"/>
          </a:xfrm>
          <a:prstGeom prst="rect">
            <a:avLst/>
          </a:prstGeom>
          <a:solidFill>
            <a:srgbClr val="E8F4FF"/>
          </a:solidFill>
          <a:ln w="1016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46120" y="2304288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8B8B"/>
                </a:solidFill>
              </a:rPr>
              <a:t>⏱  Weeks 3–6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27832" y="26517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2C2C"/>
                </a:solidFill>
              </a:rPr>
              <a:t>▸  Connect to core insurance database (DB)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27832" y="318211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2C2C"/>
                </a:solidFill>
              </a:rPr>
              <a:t>▸  Active Directory / SSO integration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27832" y="3712464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2C2C"/>
                </a:solidFill>
              </a:rPr>
              <a:t>▸  Email notifications at each stage change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27832" y="4242816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2C2C"/>
                </a:solidFill>
              </a:rPr>
              <a:t>▸  Document attachment support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27832" y="477316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2C2C"/>
                </a:solidFill>
              </a:rPr>
              <a:t>▸  Advanced reporting &amp; export (PDF/Excel)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52744" y="1600200"/>
            <a:ext cx="265176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D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52744" y="1600200"/>
            <a:ext cx="2651760" cy="7132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44184" y="162763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Phase 3
Scale &amp; Optimise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44184" y="2304288"/>
            <a:ext cx="2468880" cy="256032"/>
          </a:xfrm>
          <a:prstGeom prst="rect">
            <a:avLst/>
          </a:prstGeom>
          <a:solidFill>
            <a:srgbClr val="E8F4FF"/>
          </a:solidFill>
          <a:ln w="10160">
            <a:solidFill>
              <a:srgbClr val="0D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62472" y="2304288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2B55"/>
                </a:solidFill>
              </a:rPr>
              <a:t>⏱  Weeks 7–12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44184" y="26517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2C2C"/>
                </a:solidFill>
              </a:rPr>
              <a:t>▸  Customer self-service portal (claimant view)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44184" y="318211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2C2C"/>
                </a:solidFill>
              </a:rPr>
              <a:t>▸  Mobile responsive UI enhancements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44184" y="3712464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2C2C"/>
                </a:solidFill>
              </a:rPr>
              <a:t>▸  Predictive risk scoring (AI/ML module)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44184" y="4242816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2C2C"/>
                </a:solidFill>
              </a:rPr>
              <a:t>▸  SLA tracking and automated escalations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44184" y="477316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2C2C"/>
                </a:solidFill>
              </a:rPr>
              <a:t>▸  BI dashboard integration (Power BI / Tableau)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69096" y="1600200"/>
            <a:ext cx="265176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769096" y="1600200"/>
            <a:ext cx="2651760" cy="713232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60536" y="162763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Phase 4
Future Vision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860536" y="2304288"/>
            <a:ext cx="2468880" cy="256032"/>
          </a:xfrm>
          <a:prstGeom prst="rect">
            <a:avLst/>
          </a:prstGeom>
          <a:solidFill>
            <a:srgbClr val="E8F4FF"/>
          </a:solidFill>
          <a:ln w="1016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78824" y="2304288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8B4C"/>
                </a:solidFill>
              </a:rPr>
              <a:t>⏱  Quarter 3+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60536" y="26517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2C2C"/>
                </a:solidFill>
              </a:rPr>
              <a:t>▸  API gateway for third-party integrations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60536" y="318211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2C2C"/>
                </a:solidFill>
              </a:rPr>
              <a:t>▸  Automated document OCR intake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60536" y="3712464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2C2C"/>
                </a:solidFill>
              </a:rPr>
              <a:t>▸  Real-time fraud detection engine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60536" y="4242816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2C2C"/>
                </a:solidFill>
              </a:rPr>
              <a:t>▸  Multi-company / multi-branch support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60536" y="477316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2C2C"/>
                </a:solidFill>
              </a:rPr>
              <a:t>▸  Claims analytics and trend forecasting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14984"/>
            <a:ext cx="12188952" cy="58430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Next Steps &amp; Recommended 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C8F0"/>
                </a:solidFill>
              </a:rPr>
              <a:t>ClaimsPro  |  Confidential – For Internal Use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6539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8C8F0"/>
                </a:solidFill>
              </a:rPr>
              <a:t>13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188720"/>
            <a:ext cx="7498079" cy="4434840"/>
          </a:xfrm>
          <a:prstGeom prst="rect">
            <a:avLst/>
          </a:prstGeom>
          <a:solidFill>
            <a:srgbClr val="E8F4FF"/>
          </a:solidFill>
          <a:ln w="1016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188720"/>
            <a:ext cx="7498079" cy="4114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207008"/>
            <a:ext cx="7406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Immediate Actions (This Month)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737360"/>
            <a:ext cx="4572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" y="1810512"/>
            <a:ext cx="438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A623"/>
                </a:solidFill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1773936"/>
            <a:ext cx="6675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55"/>
                </a:solidFill>
              </a:rPr>
              <a:t>Executive Sign-Off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011680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606060"/>
                </a:solidFill>
              </a:rPr>
              <a:t>Obtain business approval to proceed with Phase 1 production deployment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368296"/>
            <a:ext cx="4572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" y="2441448"/>
            <a:ext cx="438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A623"/>
                </a:solidFill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404872"/>
            <a:ext cx="6675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55"/>
                </a:solidFill>
              </a:rPr>
              <a:t>IT Infrastructure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642616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606060"/>
                </a:solidFill>
              </a:rPr>
              <a:t>Confirm server specification, SSL certificate and network access requirements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999232"/>
            <a:ext cx="4572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" y="3072384"/>
            <a:ext cx="438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A623"/>
                </a:solidFill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035808"/>
            <a:ext cx="6675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55"/>
                </a:solidFill>
              </a:rPr>
              <a:t>User Acceptance Testing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273552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606060"/>
                </a:solidFill>
              </a:rPr>
              <a:t>Pilot with 2–3 Claims Officers and 1 Case Manager using real (sanitised) claim data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3630168"/>
            <a:ext cx="4572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" y="3703320"/>
            <a:ext cx="438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A623"/>
                </a:solidFill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3666744"/>
            <a:ext cx="6675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55"/>
                </a:solidFill>
              </a:rPr>
              <a:t>Data Migration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3904488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606060"/>
                </a:solidFill>
              </a:rPr>
              <a:t>Inventory existing manual claims to be migrated; define data entry approach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4261104"/>
            <a:ext cx="4572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0624" y="4334256"/>
            <a:ext cx="438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A623"/>
                </a:solidFill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297680"/>
            <a:ext cx="6675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55"/>
                </a:solidFill>
              </a:rPr>
              <a:t>Training Programme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535424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606060"/>
                </a:solidFill>
              </a:rPr>
              <a:t>Schedule half-day training sessions for all staff before go-live date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4892040"/>
            <a:ext cx="4572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4" y="4965192"/>
            <a:ext cx="438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A623"/>
                </a:solidFill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4928616"/>
            <a:ext cx="6675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55"/>
                </a:solidFill>
              </a:rPr>
              <a:t>Go-Live Date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5166360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606060"/>
                </a:solidFill>
              </a:rPr>
              <a:t>Target production launch — recommended within 4 weeks of executive approval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83879" y="1188720"/>
            <a:ext cx="3657600" cy="4434840"/>
          </a:xfrm>
          <a:prstGeom prst="rect">
            <a:avLst/>
          </a:prstGeom>
          <a:solidFill>
            <a:srgbClr val="FFF8E0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83879" y="1188720"/>
            <a:ext cx="3657600" cy="4114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0" y="120700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Decision Points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75320" y="1737360"/>
            <a:ext cx="342900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21040" y="1764792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805000"/>
                </a:solidFill>
              </a:rPr>
              <a:t>?  Approve Phase 1 deployment budget?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75320" y="2267712"/>
            <a:ext cx="342900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1040" y="2295144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805000"/>
                </a:solidFill>
              </a:rPr>
              <a:t>?  Confirm production server location (on-premise vs cloud)?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75320" y="2798064"/>
            <a:ext cx="342900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21040" y="2825496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805000"/>
                </a:solidFill>
              </a:rPr>
              <a:t>?  Identify Phase 2 database integration owner?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75320" y="3328416"/>
            <a:ext cx="342900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21040" y="3355848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805000"/>
                </a:solidFill>
              </a:rPr>
              <a:t>?  Set official go-live target date?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75320" y="3858768"/>
            <a:ext cx="342900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21040" y="3886200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805000"/>
                </a:solidFill>
              </a:rPr>
              <a:t>?  Approve staff training schedule?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75320" y="4389120"/>
            <a:ext cx="342900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21040" y="4416552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805000"/>
                </a:solidFill>
              </a:rPr>
              <a:t>?  Assign ClaimsPro System Administrator?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046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8C8F0"/>
                </a:solidFill>
              </a:rPr>
              <a:t>ClaimsPro — Transforming Claims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A623"/>
                </a:solidFill>
              </a:rPr>
              <a:t>Questions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57600"/>
            <a:ext cx="7955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✔  End-to-end digital claim lifecycle — from FNOL to payout decision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87368"/>
            <a:ext cx="7955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✔  Role-based control with full audit trail and business rule enforcement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17136"/>
            <a:ext cx="7955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✔  Real-time dashboard for operational and executive oversight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946904"/>
            <a:ext cx="7955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✔  Scalable REST architecture ready for enterprise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376672"/>
            <a:ext cx="7955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✔  Phase 1 ready for deployment — minimal infrastructure requirements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137160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8C8F0"/>
                </a:solidFill>
              </a:rPr>
              <a:t>Contact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17373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ClaimsPro 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19456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8F0"/>
                </a:solidFill>
              </a:rPr>
              <a:t>sagineni.s@techbulls.co.in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32004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8C8F0"/>
                </a:solidFill>
              </a:rPr>
              <a:t>Running 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352044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http://localhost:9090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3977639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8C8F0"/>
                </a:solidFill>
              </a:rPr>
              <a:t>Spring Boot 2.7  |  Java 17
Apache Tomcat 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080A0"/>
                </a:solidFill>
              </a:rPr>
              <a:t>Confidential — Prepared for Executive Leadership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56539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C8F0"/>
                </a:solidFill>
              </a:rPr>
              <a:t>ClaimsPro  |  Confidential – For Internal Use 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56539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8C8F0"/>
                </a:solidFill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